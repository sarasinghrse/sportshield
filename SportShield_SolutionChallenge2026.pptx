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6858000" cy="9144000"/>
  <p:embeddedFontLst>
    <p:embeddedFont>
      <p:font typeface="Google Sans"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singh" userId="ee227e619a139af7" providerId="LiveId" clId="{BA268E08-D55A-46CC-864F-11B2E8EE609F}"/>
    <pc:docChg chg="custSel modSld">
      <pc:chgData name="sara singh" userId="ee227e619a139af7" providerId="LiveId" clId="{BA268E08-D55A-46CC-864F-11B2E8EE609F}" dt="2026-04-26T07:27:05.429" v="4" actId="27636"/>
      <pc:docMkLst>
        <pc:docMk/>
      </pc:docMkLst>
      <pc:sldChg chg="modSp mod">
        <pc:chgData name="sara singh" userId="ee227e619a139af7" providerId="LiveId" clId="{BA268E08-D55A-46CC-864F-11B2E8EE609F}" dt="2026-04-26T07:27:05.429" v="4" actId="27636"/>
        <pc:sldMkLst>
          <pc:docMk/>
          <pc:sldMk cId="0" sldId="257"/>
        </pc:sldMkLst>
        <pc:spChg chg="mod">
          <ac:chgData name="sara singh" userId="ee227e619a139af7" providerId="LiveId" clId="{BA268E08-D55A-46CC-864F-11B2E8EE609F}" dt="2026-04-26T07:27:05.429" v="4" actId="27636"/>
          <ac:spMkLst>
            <pc:docMk/>
            <pc:sldMk cId="0" sldId="257"/>
            <ac:spMk id="10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07f7ad1a1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c07f7ad1a1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c07f7ad1a1_2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3c07f7ad1a1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c07f7ad1a1_2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c07f7ad1a1_2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c07f7ad1a1_2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c07f7ad1a1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c07f7ad1a1_2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c07f7ad1a1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07f7ad1a1_2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c07f7ad1a1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c07f7ad1a1_2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3c07f7ad1a1_2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1" i="0" u="none" strike="noStrike" cap="none">
                <a:solidFill>
                  <a:schemeClr val="accent1"/>
                </a:solidFill>
                <a:latin typeface="Google Sans"/>
                <a:ea typeface="Google Sans"/>
                <a:cs typeface="Google Sans"/>
                <a:sym typeface="Google Sans"/>
              </a:rPr>
              <a:t>Guidelines</a:t>
            </a:r>
            <a:endParaRPr sz="4000" b="1" i="0" u="none" strike="noStrike" cap="non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Kindly use the given template for submitting your </a:t>
            </a:r>
            <a:r>
              <a:rPr lang="en-GB" sz="1500">
                <a:solidFill>
                  <a:srgbClr val="434343"/>
                </a:solidFill>
                <a:latin typeface="Google Sans"/>
                <a:ea typeface="Google Sans"/>
                <a:cs typeface="Google Sans"/>
                <a:sym typeface="Google Sans"/>
              </a:rPr>
              <a:t>prototype</a:t>
            </a:r>
            <a:r>
              <a:rPr lang="en-GB" sz="1500" b="0" i="0" u="none" strike="noStrike" cap="none">
                <a:solidFill>
                  <a:srgbClr val="434343"/>
                </a:solidFill>
                <a:latin typeface="Google Sans"/>
                <a:ea typeface="Google Sans"/>
                <a:cs typeface="Google Sans"/>
                <a:sym typeface="Google Sans"/>
              </a:rPr>
              <a:t>(Make a copy of the template)</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One team is only required to submit one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You are welcome to add as many POCs and design concepts to support your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In case of queries, kindly reach out to us at </a:t>
            </a:r>
            <a:r>
              <a:rPr lang="en-GB" sz="1500">
                <a:solidFill>
                  <a:srgbClr val="434343"/>
                </a:solidFill>
                <a:latin typeface="Google Sans"/>
                <a:ea typeface="Google Sans"/>
                <a:cs typeface="Google Sans"/>
                <a:sym typeface="Google Sans"/>
              </a:rPr>
              <a:t>solutionchallengesupport@hack2skill.com</a:t>
            </a:r>
            <a:endParaRPr sz="1500" b="0" i="0" u="none" strike="noStrike" cap="none">
              <a:solidFill>
                <a:srgbClr val="434343"/>
              </a:solidFill>
              <a:latin typeface="Google Sans"/>
              <a:ea typeface="Google Sans"/>
              <a:cs typeface="Google Sans"/>
              <a:sym typeface="Google Sans"/>
            </a:endParaRPr>
          </a:p>
        </p:txBody>
      </p:sp>
      <p:pic>
        <p:nvPicPr>
          <p:cNvPr id="101" name="Google Shape;101;p25"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02" name="Google Shape;102;p25"/>
          <p:cNvSpPr txBox="1"/>
          <p:nvPr/>
        </p:nvSpPr>
        <p:spPr>
          <a:xfrm>
            <a:off x="65700" y="3897125"/>
            <a:ext cx="9012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a:solidFill>
                  <a:srgbClr val="FF0000"/>
                </a:solidFill>
                <a:latin typeface="Google Sans"/>
                <a:ea typeface="Google Sans"/>
                <a:cs typeface="Google Sans"/>
                <a:sym typeface="Google Sans"/>
              </a:rPr>
              <a:t>Note:</a:t>
            </a:r>
            <a:r>
              <a:rPr lang="en-GB" sz="1500">
                <a:solidFill>
                  <a:srgbClr val="434343"/>
                </a:solidFill>
                <a:latin typeface="Google Sans"/>
                <a:ea typeface="Google Sans"/>
                <a:cs typeface="Google Sans"/>
                <a:sym typeface="Google Sans"/>
              </a:rPr>
              <a:t> Prototype must include cloud deployment and use at least one Google AI model or service (e.g., Gemini) as part of the solution.</a:t>
            </a:r>
            <a:endParaRPr sz="1500">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r>
              <a:rPr lang="en-GB" sz="1800" b="1" i="0" u="none" strike="noStrike" cap="none" dirty="0" err="1">
                <a:solidFill>
                  <a:srgbClr val="000000"/>
                </a:solidFill>
                <a:latin typeface="Google Sans"/>
                <a:ea typeface="Google Sans"/>
                <a:cs typeface="Google Sans"/>
                <a:sym typeface="Google Sans"/>
              </a:rPr>
              <a:t>SportShield</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Sara Singh</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Sports content creators have no affordable, automated way to detect unauthorized media use online. Manual searches are slow, legal action is inaccessible, and no existing free tool offers end-to-end protection.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Brief About SportShield</a:t>
            </a:r>
            <a:endParaRPr sz="1800" b="0" i="0" u="none" strike="noStrike" cap="none">
              <a:solidFill>
                <a:srgbClr val="000000"/>
              </a:solidFill>
              <a:latin typeface="Google Sans"/>
              <a:ea typeface="Google Sans"/>
              <a:cs typeface="Google Sans"/>
              <a:sym typeface="Google Sans"/>
            </a:endParaRP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99" name="ContentBox"/>
          <p:cNvSpPr>
            <a:spLocks noGrp="1"/>
          </p:cNvSpPr>
          <p:nvPr/>
        </p:nvSpPr>
        <p:spPr>
          <a:xfrm>
            <a:off x="183250" y="1500000"/>
            <a:ext cx="8784300" cy="3400000"/>
          </a:xfrm>
          <a:prstGeom prst="rect">
            <a:avLst/>
          </a:prstGeom>
          <a:noFill/>
        </p:spPr>
        <p:txBody>
          <a:bodyPr wrap="square" lIns="91440" tIns="45720" rIns="91440" bIns="45720">
            <a:normAutofit/>
          </a:bodyPr>
          <a:lstStyle/>
          <a:p>
            <a:r>
              <a:rPr lang="en-GB" sz="1600" b="1"/>
              <a:t>What is SportShield?</a:t>
            </a:r>
          </a:p>
          <a:p>
            <a:r>
              <a:rPr lang="en-GB" sz="1400"/>
              <a:t>SportShield is a free, AI-powered platform that protects sports creators from unauthorized media use. Upload an image or video once — SportShield fingerprints it with a 64-bit perceptual hash (pHash), continuously scans the web via Google Reverse Image Search and Google Lens, and detects copies even after cropping or recolouring.</a:t>
            </a:r>
          </a:p>
          <a:p>
            <a:endParaRPr lang="en-GB" sz="1400"/>
          </a:p>
          <a:p>
            <a:r>
              <a:rPr lang="en-GB" sz="1600" b="1"/>
              <a:t>What makes it different?</a:t>
            </a:r>
          </a:p>
          <a:p>
            <a:r>
              <a:rPr lang="en-GB" sz="1400"/>
              <a:t>Unlike TinEye or Google Images, SportShield is fully automated, completely free, and built end-to-end for legal action — generating DMCA §512-compliant takedown notices and ownership certificates in one click. It also detects AI-generated fakes using HuggingFace's sdxl-detector model.</a:t>
            </a:r>
          </a:p>
          <a:p>
            <a:endParaRPr lang="en-GB" sz="1400"/>
          </a:p>
          <a:p>
            <a:r>
              <a:rPr lang="en-GB" sz="1600" b="1"/>
              <a:t>Deployed and live today</a:t>
            </a:r>
          </a:p>
          <a:p>
            <a:r>
              <a:rPr lang="en-GB" sz="1400"/>
              <a:t>Web app: sportshield-rouge.vercel.app  |  GitHub: github.com/sarasinghrse/sportshield  |  Backend: FastAPI on Render  |  Database: Firebase Firestore  |  $0/month — 100% free-tier infrastructure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Opportunities</a:t>
            </a:r>
            <a:endParaRPr sz="1800" b="0" i="0" u="none" strike="noStrike" cap="none">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sz="1800" b="0" i="0" u="none" strike="noStrike" cap="none">
                <a:solidFill>
                  <a:srgbClr val="000000"/>
                </a:solidFill>
                <a:latin typeface="Google Sans"/>
                <a:ea typeface="Google Sans"/>
                <a:cs typeface="Google Sans"/>
                <a:sym typeface="Google Sans"/>
              </a:rPr>
              <a:t>How is SportShield different? TinEye and Google Images require manual searches, offer no legal pathway, and cannot detect AI-generated fakes. SportShield combines pHash fingerprinting + reverse-image search + AI detection + automated DMCA in one free platform.</a:t>
            </a:r>
            <a:endParaRPr sz="1800" b="0" i="0" u="none" strike="noStrike" cap="none">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sz="1800" b="0" i="0" u="none" strike="noStrike" cap="none">
                <a:solidFill>
                  <a:srgbClr val="000000"/>
                </a:solidFill>
                <a:latin typeface="Google Sans"/>
                <a:ea typeface="Google Sans"/>
                <a:cs typeface="Google Sans"/>
                <a:sym typeface="Google Sans"/>
              </a:rPr>
              <a:t>How does it solve the problem? Upload once. SportShield fingerprints your media, continuously scans the web using Google Reverse Image Search + Google Lens, detects unauthorized copies even after cropping or recolouring, and issues DMCA takedown notices in one click. Zero manual effort after the first upload.</a:t>
            </a:r>
            <a:endParaRPr sz="1800" b="0" i="0" u="none" strike="noStrike" cap="none">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sz="1800" b="0" i="0" u="none" strike="noStrike" cap="none">
                <a:solidFill>
                  <a:srgbClr val="000000"/>
                </a:solidFill>
                <a:latin typeface="Google Sans"/>
                <a:ea typeface="Google Sans"/>
                <a:cs typeface="Google Sans"/>
                <a:sym typeface="Google Sans"/>
              </a:rPr>
              <a:t>USP: 100% free. Detects AI-generated fakes. One-click DMCA tools. Social media scanning. Auto-DMCA to site owners. Built and deployed in one week on entirely free-tier infrastructure.</a:t>
            </a:r>
            <a:endParaRPr sz="1800">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95959"/>
              </a:solidFill>
              <a:latin typeface="Google Sans"/>
              <a:ea typeface="Google Sans"/>
              <a:cs typeface="Google Sans"/>
              <a:sym typeface="Google Sans"/>
            </a:endParaRP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1. Real-time media monitoring — daily automated rescans of all assets
2. pHash fingerprinting — survives crop, resize, compression, and recolour
3. Reverse image search — Google Reverse Image + Google Lens (via SerpAPI)
4. AI-generated image detection — HuggingFace Inference API (free tier)
5. One-click DMCA notice generator — legally-compliant DMCA §512 notices
6. Ownership certificate — tamper-evident, QR-verified PDF
7. Social media scanning — paste any Instagram/Twitter post URL
8. Auto-DMCA to site owners — emails webmaster@/dmca@ of violating domains
9. Public community dashboard — live feed of opt-in protected assets
10. URL verification tool — public lookup, no login required
11. Analytics dashboard — violation trends, severity breakdown, protection score
12. Flutter mobile app (in development)</a:t>
            </a:r>
            <a:endParaRPr sz="1800" b="0" i="0" u="none" strike="noStrike" cap="none">
              <a:solidFill>
                <a:srgbClr val="000000"/>
              </a:solidFill>
              <a:latin typeface="Google Sans"/>
              <a:ea typeface="Google Sans"/>
              <a:cs typeface="Google Sans"/>
              <a:sym typeface="Google Sans"/>
            </a:endParaRP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0"/>
          <p:cNvSpPr txBox="1"/>
          <p:nvPr/>
        </p:nvSpPr>
        <p:spPr>
          <a:xfrm>
            <a:off x="195475" y="830775"/>
            <a:ext cx="8772000" cy="41000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1800"/>
              <a:buFont typeface="Arial"/>
              <a:buNone/>
            </a:pPr>
            <a:r>
              <a:rPr lang="en-GB" sz="1400" b="0" i="0" u="none" strike="noStrike" cap="none">
                <a:solidFill>
                  <a:srgbClr val="000000"/>
                </a:solidFill>
                <a:latin typeface="Google Sans"/>
                <a:ea typeface="Google Sans"/>
                <a:cs typeface="Google Sans"/>
                <a:sym typeface="Google Sans"/>
              </a:rPr>
              <a:t>SportShield — End-to-End Protection Pipeline
[1] User uploads image/video or pastes social URL (Instagram/Twitter)
        ↓
[2] FastAPI backend receives file → uploads to Cloudinary CDN
        ↓
[3] Python imagehash generates 64-bit perceptual fingerprint (pHash)
        ↓
[4] Background thread triggers web scan via SerpAPI
        (Google Reverse Image Search + Google Lens fallback)
        ↓
[5] HuggingFace AI analyses image: Authentic or AI-Generated?
        ↓
[6] Each match: pHash comparison + confidence scoring (0-100%)
        ↓
[7] Matches stored in Firebase Firestore → Alert created
        ↓
[8] Dashboard updates in real time → Creator notified
        ↓
[9] Creator chooses: DMCA Notice / Ownership Certificate / Report Owner
        ↓
[10] Brevo sends automated email to rights holder + violating site owner</a:t>
            </a:r>
            <a:endParaRPr sz="1400" b="0" i="0" u="none" strike="noStrike" cap="none">
              <a:solidFill>
                <a:srgbClr val="000000"/>
              </a:solidFill>
              <a:latin typeface="Google Sans"/>
              <a:ea typeface="Google Sans"/>
              <a:cs typeface="Google Sans"/>
              <a:sym typeface="Google Sans"/>
            </a:endParaRPr>
          </a:p>
        </p:txBody>
      </p:sp>
      <p:pic>
        <p:nvPicPr>
          <p:cNvPr id="134" name="Google Shape;134;p30"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1"/>
          <p:cNvSpPr txBox="1"/>
          <p:nvPr/>
        </p:nvSpPr>
        <p:spPr>
          <a:xfrm>
            <a:off x="207700" y="879650"/>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SportShield — Live Screenshots
[INSERT SCREENSHOTS FROM sportshield-rouge.vercel.app]
Suggested: Landing page hero • Private dashboard • Upload page • Alert detail • Ownership certificate • Public community dashboard • Analytics dashboard</a:t>
            </a:r>
            <a:endParaRPr sz="1800" b="0" i="0" u="none" strike="noStrike" cap="none">
              <a:solidFill>
                <a:srgbClr val="000000"/>
              </a:solidFill>
              <a:latin typeface="Google Sans"/>
              <a:ea typeface="Google Sans"/>
              <a:cs typeface="Google Sans"/>
              <a:sym typeface="Google Sans"/>
            </a:endParaRPr>
          </a:p>
        </p:txBody>
      </p:sp>
      <p:pic>
        <p:nvPicPr>
          <p:cNvPr id="140" name="Google Shape;140;p31"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2"/>
          <p:cNvSpPr txBox="1"/>
          <p:nvPr/>
        </p:nvSpPr>
        <p:spPr>
          <a:xfrm>
            <a:off x="171050" y="867425"/>
            <a:ext cx="8820900" cy="40000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1800"/>
              <a:buFont typeface="Arial"/>
              <a:buNone/>
            </a:pPr>
            <a:r>
              <a:rPr lang="en-GB" sz="1350" b="0" i="0" u="none" strike="noStrike" cap="none">
                <a:solidFill>
                  <a:srgbClr val="000000"/>
                </a:solidFill>
                <a:latin typeface="Google Sans"/>
                <a:ea typeface="Google Sans"/>
                <a:cs typeface="Google Sans"/>
                <a:sym typeface="Google Sans"/>
              </a:rPr>
              <a:t>SportShield System Architecture
FRONTEND LAYER
Next.js 14 (React) deployed on Vercel CDN
→ Pages: Landing, Dashboard, Upload, Alerts, Analytics, Verify, Community, About, Features, Resources
→ Real-time state via Firebase Firestore listeners
BACKEND LAYER
FastAPI (Python 3.11) deployed on Render
→ /api/media/upload — fingerprint + scan trigger
→ /api/media/scan-url — social media image extraction
→ /api/contact/send — Brevo email delivery
→ /api/contact/report-owner — auto-DMCA to site owners
→ /api/alerts — violation management
DATA LAYER
Firebase Firestore (assets, alerts, scan_results collections)
Cloudinary CDN (media storage, 25GB free)
AI / EXTERNAL SERVICES
SerpAPI — Google Reverse Image + Google Lens
HuggingFace Inference API — AI image detection
Brevo Transactional API — email notifications
MOBILE: Flutter app (Firebase SDK) — in development</a:t>
            </a:r>
            <a:endParaRPr sz="1350" b="0" i="0" u="none" strike="noStrike" cap="none">
              <a:solidFill>
                <a:srgbClr val="000000"/>
              </a:solidFill>
              <a:latin typeface="Google Sans"/>
              <a:ea typeface="Google Sans"/>
              <a:cs typeface="Google Sans"/>
              <a:sym typeface="Google Sans"/>
            </a:endParaRPr>
          </a:p>
        </p:txBody>
      </p:sp>
      <p:pic>
        <p:nvPicPr>
          <p:cNvPr id="146" name="Google Shape;146;p32"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Technology Stack
FRONTEND
Next.js 14 • React • Firebase JS SDK • Recharts
BACKEND
FastAPI • Python 3.11 • imagehash (pHash) • httpx • Pillow
INFRASTRUCTURE (100% Free Tier)
Vercel (frontend hosting) • Render (backend) • Firebase Spark (database)
Cloudinary (media CDN, 25GB) • Brevo (300 emails/day)
AI &amp; SEARCH
SerpAPI — wraps Google Reverse Image Search + Google Lens
HuggingFace Inference API — Organika/sdxl-detector (AI image detection)
GOOGLE TOOLS USED
Google Firebase Firestore • Firebase Auth
Google Fonts (Barlow, Barlow Condensed)
Google Gemini (AI-assisted prototyping &amp; code review during development)
Google Chrome DevTools (performance debugging throughout)
Google Chrome Lighthouse (web performance auditing, PWA compliance)
Google Search Console (SEO monitoring &amp; crawl verification)
Google Analytics GA4 (usage tracking, integrated)
SerpAPI engine = Google Reverse Image (indirectly uses Google Search)
MOBILE
Flutter • Dart • Firebase Flutter SDK</a:t>
            </a:r>
            <a:endParaRPr sz="1200" b="0" i="0" u="none" strike="noStrike" cap="none">
              <a:solidFill>
                <a:srgbClr val="000000"/>
              </a:solidFill>
              <a:latin typeface="Google Sans"/>
              <a:ea typeface="Google Sans"/>
              <a:cs typeface="Google Sans"/>
              <a:sym typeface="Google Sans"/>
            </a:endParaRP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4"/>
          <p:cNvSpPr txBox="1"/>
          <p:nvPr/>
        </p:nvSpPr>
        <p:spPr>
          <a:xfrm>
            <a:off x="158825" y="818550"/>
            <a:ext cx="8845200" cy="41000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1800"/>
              <a:buFont typeface="Arial"/>
              <a:buNone/>
            </a:pPr>
            <a:r>
              <a:rPr lang="en-GB" sz="1400" b="0" i="0" u="none" strike="noStrike" cap="none">
                <a:solidFill>
                  <a:srgbClr val="000000"/>
                </a:solidFill>
                <a:latin typeface="Google Sans"/>
                <a:ea typeface="Google Sans"/>
                <a:cs typeface="Google Sans"/>
                <a:sym typeface="Google Sans"/>
              </a:rPr>
              <a:t>Implementation Cost: $0 / month
All services used are on permanent free tiers. No credit card charges incurred.
Service                   Free Tier              Our Usage
Vercel                    100 GB bandwidth       Frontend hosting
Render                    750 hrs/month          FastAPI backend
Firebase Spark            50K reads/day          Firestore database
Cloudinary                25 GB storage          Media CDN
SerpAPI                   100 searches/month     Reverse image search
HuggingFace               Rate-limited API       AI image detection
Brevo                     300 emails/day         Transactional email
Google Firebase           Spark plan (free)      Auth + Firestore
Google Fonts              Free (CDN)             Barlow typography
TOTAL MONTHLY COST: $0
Scaling cost estimate (if 10,000 users): ~$50/month (Render paid + Cloudinary paid tier). Extremely lean cost structure for a production-grade platform.</a:t>
            </a:r>
            <a:endParaRPr sz="1400" b="0" i="0" u="none" strike="noStrike" cap="none">
              <a:solidFill>
                <a:srgbClr val="000000"/>
              </a:solidFill>
              <a:latin typeface="Google Sans"/>
              <a:ea typeface="Google Sans"/>
              <a:cs typeface="Google Sans"/>
              <a:sym typeface="Google Sans"/>
            </a:endParaRPr>
          </a:p>
        </p:txBody>
      </p:sp>
      <p:pic>
        <p:nvPicPr>
          <p:cNvPr id="158" name="Google Shape;158;p34"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MVP Snapshots
[INSERT SCREENSHOTS HERE]
Live MVP: sportshield-rouge.vercel.app
All features are live and functional. The platform has been built, deployed, and tested end-to-end on real infrastructure within the Solutions Challenge timeline.</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6"/>
          <p:cNvSpPr txBox="1"/>
          <p:nvPr/>
        </p:nvSpPr>
        <p:spPr>
          <a:xfrm>
            <a:off x="109950" y="781900"/>
            <a:ext cx="8894100" cy="41000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1800"/>
              <a:buFont typeface="Arial"/>
              <a:buNone/>
            </a:pPr>
            <a:r>
              <a:rPr lang="en-GB" sz="1350" b="0" i="0" u="none" strike="noStrike" cap="none">
                <a:solidFill>
                  <a:srgbClr val="000000"/>
                </a:solidFill>
                <a:latin typeface="Google Sans"/>
                <a:ea typeface="Google Sans"/>
                <a:cs typeface="Google Sans"/>
                <a:sym typeface="Google Sans"/>
              </a:rPr>
              <a:t>Future Development Roadmap
SHORT TERM (1-3 months)
• Flutter mobile app — full iOS/Android release (Anshu Raj, in progress)
• Multi-user Firebase Auth — per-user asset isolation (replace demo_user)
• Video fingerprinting — frame-level pHash extraction for video theft detection
• Chrome extension — right-click any image to instantly scan via SportShield
MEDIUM TERM (3-6 months)
• Google Cloud Vision API integration — higher-accuracy AI image analysis
• Vertex AI Embeddings — semantic search for near-duplicate media detection
• Google Custom Search API — expand beyond SerpAPI for deeper web coverage
• Watermarking service — invisible forensic watermarks using steganography
• Google Translate API — multilingual DMCA notices for international enforcement
LONG TERM (6-12 months)
• Licence marketplace — direct creator-to-buyer licensing platform
• Sports agency API — white-label protection for clubs and agencies
• Google Maps API — geographic violation heatmaps showing where theft originates
• Blockchain certificate anchoring — immutable on-chain proof of ownership
NOTE ON GOOGLE TOOLS: Several Google Cloud tools (Cloud Vision, Vertex AI, Custom Search) were planned for the MVP but could not be activated due to GCP billing issues during the challenge period. These are the first integrations planned once billing is resolved.</a:t>
            </a:r>
            <a:endParaRPr sz="1350" b="0" i="0" u="none" strike="noStrike" cap="none">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Provide links to your:</a:t>
            </a:r>
            <a:endParaRPr sz="1800" b="0" i="0" u="none" strike="noStrike" cap="none">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GitHub: https://github.com/sarasinghrse/sportshield</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Demo Video: [insert your Loom/YouTube link]</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MVP: https://sportshield-rouge.vercel.app</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SzPts val="1800"/>
              <a:buFont typeface="Google Sans"/>
              <a:buAutoNum type="arabicPeriod"/>
            </a:pPr>
            <a:r>
              <a:rPr lang="en-GB" sz="1800">
                <a:latin typeface="Google Sans"/>
                <a:ea typeface="Google Sans"/>
                <a:cs typeface="Google Sans"/>
                <a:sym typeface="Google Sans"/>
              </a:rPr>
              <a:t>Working Prototype: https://sportshield-rouge.vercel.app/landing</a:t>
            </a:r>
            <a:endParaRPr sz="180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38"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201" name="BillingContent"/>
          <p:cNvSpPr txBox="1"/>
          <p:nvPr/>
        </p:nvSpPr>
        <p:spPr>
          <a:xfrm>
            <a:off x="300000" y="400000"/>
            <a:ext cx="8550000" cy="4900000"/>
          </a:xfrm>
          <a:prstGeom prst="rect">
            <a:avLst/>
          </a:prstGeom>
          <a:noFill/>
          <a:ln>
            <a:noFill/>
          </a:ln>
        </p:spPr>
        <p:txBody>
          <a:bodyPr wrap="square" lIns="91425" tIns="91425" rIns="91425" bIns="91425">
            <a:normAutofit/>
          </a:bodyPr>
          <a:lstStyle/>
          <a:p>
            <a:pPr algn="l">
              <a:lnSpc>
                <a:spcPct val="100000"/>
              </a:lnSpc>
            </a:pPr>
            <a:r>
              <a:rPr lang="en-GB" sz="2000" b="1">
                <a:solidFill>
                  <a:srgbClr val="CC0000"/>
                </a:solidFill>
                <a:latin typeface="Google Sans"/>
              </a:rPr>
              <a:t>Why We Used Alternative Tools - And Why We Tried Everything to Avoid It</a:t>
            </a:r>
          </a:p>
          <a:p>
            <a:r>
              <a:rPr sz="100">
                <a:latin typeface="Google Sans"/>
              </a:rPr>
              <a:t> </a:t>
            </a:r>
          </a:p>
          <a:p>
            <a:pPr algn="l">
              <a:lnSpc>
                <a:spcPct val="120000"/>
              </a:lnSpc>
            </a:pPr>
            <a:r>
              <a:rPr lang="en-GB" sz="1400" b="0">
                <a:solidFill>
                  <a:srgbClr val="000000"/>
                </a:solidFill>
                <a:latin typeface="Google Sans"/>
              </a:rPr>
              <a:t>We planned SportShield entirely on Google Cloud: Cloud Run, Cloud Storage, Vertex AI, Google Custom Search API, Firebase Blaze. When setting up GCP billing we hit persistent, unresolvable errors:</a:t>
            </a:r>
          </a:p>
          <a:p>
            <a:r>
              <a:rPr sz="100">
                <a:latin typeface="Google Sans"/>
              </a:rPr>
              <a:t> </a:t>
            </a:r>
          </a:p>
          <a:p>
            <a:pPr marL="457200" indent="-342900" algn="l">
              <a:lnSpc>
                <a:spcPct val="115000"/>
              </a:lnSpc>
              <a:buChar char="•"/>
            </a:pPr>
            <a:r>
              <a:rPr lang="en-GB" sz="1400" b="1">
                <a:solidFill>
                  <a:srgbClr val="CC0000"/>
                </a:solidFill>
                <a:latin typeface="Google Sans"/>
              </a:rPr>
              <a:t>Error OR_BACR2_44:</a:t>
            </a:r>
            <a:r>
              <a:rPr lang="en-GB" sz="1400" b="0">
                <a:solidFill>
                  <a:srgbClr val="000000"/>
                </a:solidFill>
                <a:latin typeface="Google Sans"/>
              </a:rPr>
              <a:t> Billing setup could not be completed (tried multiple times)</a:t>
            </a:r>
          </a:p>
          <a:p>
            <a:pPr marL="457200" indent="-342900" algn="l">
              <a:lnSpc>
                <a:spcPct val="115000"/>
              </a:lnSpc>
              <a:buChar char="•"/>
            </a:pPr>
            <a:r>
              <a:rPr lang="en-GB" sz="1400" b="1">
                <a:solidFill>
                  <a:srgbClr val="CC0000"/>
                </a:solidFill>
                <a:latin typeface="Google Sans"/>
              </a:rPr>
              <a:t>Error MIVM:</a:t>
            </a:r>
            <a:r>
              <a:rPr lang="en-GB" sz="1400" b="0">
                <a:solidFill>
                  <a:srgbClr val="000000"/>
                </a:solidFill>
                <a:latin typeface="Google Sans"/>
              </a:rPr>
              <a:t> Payment method could not be verified. Credit card was approved by bank but GCP billing account still would not activate. UPI autopay cancelled each time.</a:t>
            </a:r>
          </a:p>
          <a:p>
            <a:r>
              <a:rPr sz="100">
                <a:latin typeface="Google Sans"/>
              </a:rPr>
              <a:t> </a:t>
            </a:r>
          </a:p>
          <a:p>
            <a:pPr algn="l">
              <a:lnSpc>
                <a:spcPct val="120000"/>
              </a:lnSpc>
            </a:pPr>
            <a:r>
              <a:rPr lang="en-GB" sz="1400" b="1">
                <a:solidFill>
                  <a:srgbClr val="1A5C1A"/>
                </a:solidFill>
                <a:latin typeface="Google Sans"/>
              </a:rPr>
              <a:t>Our response: </a:t>
            </a:r>
            <a:r>
              <a:rPr lang="en-GB" sz="1400" b="0">
                <a:solidFill>
                  <a:srgbClr val="000000"/>
                </a:solidFill>
                <a:latin typeface="Google Sans"/>
              </a:rPr>
              <a:t>We mapped every planned Google service to a free, open alternative and built the same full-featured product anyway.</a:t>
            </a:r>
          </a:p>
          <a:p>
            <a:r>
              <a:rPr sz="100">
                <a:latin typeface="Google Sans"/>
              </a:rPr>
              <a:t> </a:t>
            </a:r>
          </a:p>
          <a:p>
            <a:pPr algn="l">
              <a:lnSpc>
                <a:spcPct val="115000"/>
              </a:lnSpc>
            </a:pPr>
            <a:r>
              <a:rPr lang="en-GB" sz="1300" b="1">
                <a:solidFill>
                  <a:srgbClr val="000000"/>
                </a:solidFill>
                <a:latin typeface="Google Sans"/>
              </a:rPr>
              <a:t>Original Plan (needed GCP billing)          Replacement Used (100% free, no card needed)</a:t>
            </a:r>
          </a:p>
          <a:p>
            <a:pPr algn="l">
              <a:lnSpc>
                <a:spcPct val="115000"/>
              </a:lnSpc>
            </a:pPr>
            <a:r>
              <a:rPr lang="en-GB" sz="1200" b="0">
                <a:solidFill>
                  <a:srgbClr val="444444"/>
                </a:solidFill>
                <a:latin typeface="Google Sans"/>
              </a:rPr>
              <a:t>Cloud Run (backend hosting)                  Render.com free tier</a:t>
            </a:r>
          </a:p>
          <a:p>
            <a:pPr algn="l">
              <a:lnSpc>
                <a:spcPct val="115000"/>
              </a:lnSpc>
            </a:pPr>
            <a:r>
              <a:rPr lang="en-GB" sz="1200" b="0">
                <a:solidFill>
                  <a:srgbClr val="444444"/>
                </a:solidFill>
                <a:latin typeface="Google Sans"/>
              </a:rPr>
              <a:t>Cloud Storage (media)                        Cloudinary free tier (25 GB)</a:t>
            </a:r>
          </a:p>
          <a:p>
            <a:pPr algn="l">
              <a:lnSpc>
                <a:spcPct val="115000"/>
              </a:lnSpc>
            </a:pPr>
            <a:r>
              <a:rPr lang="en-GB" sz="1200" b="0">
                <a:solidFill>
                  <a:srgbClr val="444444"/>
                </a:solidFill>
                <a:latin typeface="Google Sans"/>
              </a:rPr>
              <a:t>Firebase Hosting (Blaze)                     Vercel free tier</a:t>
            </a:r>
          </a:p>
          <a:p>
            <a:pPr algn="l">
              <a:lnSpc>
                <a:spcPct val="115000"/>
              </a:lnSpc>
            </a:pPr>
            <a:r>
              <a:rPr lang="en-GB" sz="1200" b="0">
                <a:solidFill>
                  <a:srgbClr val="444444"/>
                </a:solidFill>
                <a:latin typeface="Google Sans"/>
              </a:rPr>
              <a:t>Vertex AI Embeddings                         Removed - pHash only for MVP</a:t>
            </a:r>
          </a:p>
          <a:p>
            <a:pPr algn="l">
              <a:lnSpc>
                <a:spcPct val="115000"/>
              </a:lnSpc>
            </a:pPr>
            <a:r>
              <a:rPr lang="en-GB" sz="1200" b="0">
                <a:solidFill>
                  <a:srgbClr val="444444"/>
                </a:solidFill>
                <a:latin typeface="Google Sans"/>
              </a:rPr>
              <a:t>SendGrid email (GCP integrated)              Brevo (300 emails/day free, no card)</a:t>
            </a:r>
          </a:p>
          <a:p>
            <a:pPr algn="l">
              <a:lnSpc>
                <a:spcPct val="115000"/>
              </a:lnSpc>
            </a:pPr>
            <a:r>
              <a:rPr lang="en-GB" sz="1200" b="0">
                <a:solidFill>
                  <a:srgbClr val="444444"/>
                </a:solidFill>
                <a:latin typeface="Google Sans"/>
              </a:rPr>
              <a:t>Cloud Tasks / Scheduler                      Python threading (built-in, free)</a:t>
            </a:r>
          </a:p>
          <a:p>
            <a:pPr algn="l">
              <a:lnSpc>
                <a:spcPct val="115000"/>
              </a:lnSpc>
            </a:pPr>
            <a:r>
              <a:rPr lang="en-GB" sz="1200" b="0">
                <a:solidFill>
                  <a:srgbClr val="444444"/>
                </a:solidFill>
                <a:latin typeface="Google Sans"/>
              </a:rPr>
              <a:t>Google Custom Search API                     SerpAPI (100 searches/month free)</a:t>
            </a:r>
          </a:p>
          <a:p>
            <a:pPr algn="l">
              <a:lnSpc>
                <a:spcPct val="115000"/>
              </a:lnSpc>
            </a:pPr>
            <a:r>
              <a:rPr lang="en-GB" sz="1200" b="0">
                <a:solidFill>
                  <a:srgbClr val="444444"/>
                </a:solidFill>
                <a:latin typeface="Google Sans"/>
              </a:rPr>
              <a:t>Firebase Blaze plan                          Firebase Spark plan (stays free)</a:t>
            </a:r>
          </a:p>
          <a:p>
            <a:r>
              <a:rPr sz="100">
                <a:latin typeface="Google Sans"/>
              </a:rPr>
              <a:t> </a:t>
            </a:r>
          </a:p>
          <a:p>
            <a:pPr algn="l">
              <a:lnSpc>
                <a:spcPct val="115000"/>
              </a:lnSpc>
            </a:pPr>
            <a:r>
              <a:rPr lang="en-GB" sz="1300" b="1">
                <a:solidFill>
                  <a:srgbClr val="1A5C1A"/>
                </a:solidFill>
                <a:latin typeface="Google Sans"/>
              </a:rPr>
              <a:t>[INSERT BILLING ERROR SCREENSHOTS HERE - provided above]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1973</Words>
  <Application>Microsoft Office PowerPoint</Application>
  <PresentationFormat>On-screen Show (16:9)</PresentationFormat>
  <Paragraphs>59</Paragraphs>
  <Slides>15</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15</vt:i4>
      </vt:variant>
    </vt:vector>
  </HeadingPairs>
  <TitlesOfParts>
    <vt:vector size="19"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sara singh</cp:lastModifiedBy>
  <cp:revision>1</cp:revision>
  <dcterms:modified xsi:type="dcterms:W3CDTF">2026-04-26T07:27:15Z</dcterms:modified>
</cp:coreProperties>
</file>